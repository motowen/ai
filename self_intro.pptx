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66" r:id="rId4"/>
    <p:sldMasterId id="2147493550" r:id="rId5"/>
  </p:sldMasterIdLst>
  <p:notesMasterIdLst>
    <p:notesMasterId r:id="rId10"/>
  </p:notesMasterIdLst>
  <p:sldIdLst>
    <p:sldId id="256" r:id="rId6"/>
    <p:sldId id="257" r:id="rId7"/>
    <p:sldId id="262" r:id="rId8"/>
    <p:sldId id="258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2C29"/>
    <a:srgbClr val="666B6D"/>
    <a:srgbClr val="CE2F2B"/>
    <a:srgbClr val="4C4B4B"/>
    <a:srgbClr val="403F3F"/>
    <a:srgbClr val="313334"/>
    <a:srgbClr val="E6E2DE"/>
    <a:srgbClr val="F6DA98"/>
    <a:srgbClr val="4FB8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69" autoAdjust="0"/>
    <p:restoredTop sz="94629"/>
  </p:normalViewPr>
  <p:slideViewPr>
    <p:cSldViewPr snapToGrid="0" snapToObjects="1">
      <p:cViewPr varScale="1">
        <p:scale>
          <a:sx n="200" d="100"/>
          <a:sy n="200" d="100"/>
        </p:scale>
        <p:origin x="594" y="15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82E5D-8BB1-4143-9A8E-7C31694E4928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94AD99-230D-42C2-983E-9D21863D80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79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842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70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587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833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12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090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900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74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662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5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491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62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285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76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642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3262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1180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3300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1885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1113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2025/11/16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851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2025/11/16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0850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2025/11/16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6952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2025/11/16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9839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2025/11/16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4729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2025/11/16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6578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8552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E61D-D431-422C-9764-11DAFE33AB63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105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2025/11/16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505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67" r:id="rId1"/>
    <p:sldLayoutId id="2147493468" r:id="rId2"/>
    <p:sldLayoutId id="2147493469" r:id="rId3"/>
    <p:sldLayoutId id="2147493470" r:id="rId4"/>
    <p:sldLayoutId id="2147493471" r:id="rId5"/>
    <p:sldLayoutId id="2147493472" r:id="rId6"/>
    <p:sldLayoutId id="2147493473" r:id="rId7"/>
    <p:sldLayoutId id="2147493474" r:id="rId8"/>
    <p:sldLayoutId id="2147493475" r:id="rId9"/>
    <p:sldLayoutId id="2147493476" r:id="rId10"/>
    <p:sldLayoutId id="21474934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defTabSz="685800"/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2025/11/16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defTabSz="68580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defTabSz="685800"/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7447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93551" r:id="rId1"/>
    <p:sldLayoutId id="2147493552" r:id="rId2"/>
    <p:sldLayoutId id="2147493553" r:id="rId3"/>
    <p:sldLayoutId id="2147493554" r:id="rId4"/>
    <p:sldLayoutId id="2147493555" r:id="rId5"/>
    <p:sldLayoutId id="2147493556" r:id="rId6"/>
    <p:sldLayoutId id="2147493557" r:id="rId7"/>
    <p:sldLayoutId id="2147493558" r:id="rId8"/>
    <p:sldLayoutId id="2147493559" r:id="rId9"/>
    <p:sldLayoutId id="2147493560" r:id="rId10"/>
    <p:sldLayoutId id="2147493561" r:id="rId11"/>
    <p:sldLayoutId id="2147493562" r:id="rId12"/>
    <p:sldLayoutId id="2147493563" r:id="rId13"/>
    <p:sldLayoutId id="2147493564" r:id="rId14"/>
    <p:sldLayoutId id="2147493565" r:id="rId15"/>
    <p:sldLayoutId id="2147493566" r:id="rId16"/>
    <p:sldLayoutId id="2147493567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4380" y="1639726"/>
            <a:ext cx="6553200" cy="20370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3600"/>
            </a:pPr>
            <a:r>
              <a:rPr lang="en-US" sz="4100" cap="all">
                <a:ln w="3175" cmpd="sng">
                  <a:noFill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Self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3686" y="3676806"/>
            <a:ext cx="5004940" cy="6858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defRPr sz="2000"/>
            </a:pP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2">
            <a:extLst>
              <a:ext uri="{FF2B5EF4-FFF2-40B4-BE49-F238E27FC236}">
                <a16:creationId xmlns:a16="http://schemas.microsoft.com/office/drawing/2014/main" id="{DF975A18-8574-F101-49B5-61EC8E59D364}"/>
              </a:ext>
            </a:extLst>
          </p:cNvPr>
          <p:cNvGrpSpPr/>
          <p:nvPr/>
        </p:nvGrpSpPr>
        <p:grpSpPr>
          <a:xfrm>
            <a:off x="3451442" y="-1"/>
            <a:ext cx="2241117" cy="1093517"/>
            <a:chOff x="3033164" y="-1"/>
            <a:chExt cx="2241117" cy="1093517"/>
          </a:xfrm>
        </p:grpSpPr>
        <p:sp>
          <p:nvSpPr>
            <p:cNvPr id="5" name="等腰三角形 9">
              <a:extLst>
                <a:ext uri="{FF2B5EF4-FFF2-40B4-BE49-F238E27FC236}">
                  <a16:creationId xmlns:a16="http://schemas.microsoft.com/office/drawing/2014/main" id="{75BD4074-ACCC-5498-0CE6-A75CF71290DE}"/>
                </a:ext>
              </a:extLst>
            </p:cNvPr>
            <p:cNvSpPr/>
            <p:nvPr/>
          </p:nvSpPr>
          <p:spPr>
            <a:xfrm flipV="1">
              <a:off x="3033165" y="-1"/>
              <a:ext cx="2241116" cy="1093517"/>
            </a:xfrm>
            <a:custGeom>
              <a:avLst/>
              <a:gdLst/>
              <a:ahLst/>
              <a:cxnLst/>
              <a:rect l="l" t="t" r="r" b="b"/>
              <a:pathLst>
                <a:path w="2050062" h="989888">
                  <a:moveTo>
                    <a:pt x="0" y="989888"/>
                  </a:moveTo>
                  <a:lnTo>
                    <a:pt x="2050062" y="989888"/>
                  </a:lnTo>
                  <a:lnTo>
                    <a:pt x="2041981" y="799417"/>
                  </a:lnTo>
                  <a:cubicBezTo>
                    <a:pt x="2025751" y="615050"/>
                    <a:pt x="1987405" y="475027"/>
                    <a:pt x="1940306" y="434939"/>
                  </a:cubicBezTo>
                  <a:lnTo>
                    <a:pt x="1918044" y="425604"/>
                  </a:lnTo>
                  <a:lnTo>
                    <a:pt x="1918044" y="423297"/>
                  </a:lnTo>
                  <a:lnTo>
                    <a:pt x="1918044" y="423294"/>
                  </a:lnTo>
                  <a:lnTo>
                    <a:pt x="1918038" y="423294"/>
                  </a:lnTo>
                  <a:lnTo>
                    <a:pt x="1025031" y="0"/>
                  </a:lnTo>
                  <a:lnTo>
                    <a:pt x="132025" y="423294"/>
                  </a:lnTo>
                  <a:lnTo>
                    <a:pt x="132017" y="423294"/>
                  </a:lnTo>
                  <a:lnTo>
                    <a:pt x="132017" y="425605"/>
                  </a:lnTo>
                  <a:lnTo>
                    <a:pt x="109756" y="434939"/>
                  </a:lnTo>
                  <a:cubicBezTo>
                    <a:pt x="62658" y="475027"/>
                    <a:pt x="24311" y="615050"/>
                    <a:pt x="8082" y="799417"/>
                  </a:cubicBezTo>
                  <a:close/>
                </a:path>
              </a:pathLst>
            </a:custGeom>
            <a:solidFill>
              <a:srgbClr val="4FB8AB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" name="文本框 4">
              <a:extLst>
                <a:ext uri="{FF2B5EF4-FFF2-40B4-BE49-F238E27FC236}">
                  <a16:creationId xmlns:a16="http://schemas.microsoft.com/office/drawing/2014/main" id="{25F896AC-3588-E504-7038-76CCAFAFC966}"/>
                </a:ext>
              </a:extLst>
            </p:cNvPr>
            <p:cNvSpPr txBox="1"/>
            <p:nvPr/>
          </p:nvSpPr>
          <p:spPr>
            <a:xfrm>
              <a:off x="3033164" y="53864"/>
              <a:ext cx="2233632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CN" sz="2400" b="1" dirty="0">
                  <a:solidFill>
                    <a:srgbClr val="4C4B4B"/>
                  </a:solidFill>
                  <a:effectLst>
                    <a:innerShdw blurRad="63500" dist="50800" dir="16200000">
                      <a:prstClr val="black">
                        <a:alpha val="50000"/>
                      </a:prstClr>
                    </a:innerShdw>
                  </a:effectLst>
                </a:rPr>
                <a:t>EXPERIENCE</a:t>
              </a:r>
              <a:endParaRPr kumimoji="1" lang="zh-CN" altLang="en-US" sz="2400" b="1" dirty="0">
                <a:solidFill>
                  <a:srgbClr val="4C4B4B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a:endParaRPr>
            </a:p>
          </p:txBody>
        </p:sp>
      </p:grpSp>
      <p:cxnSp>
        <p:nvCxnSpPr>
          <p:cNvPr id="7" name="直线连接符 9">
            <a:extLst>
              <a:ext uri="{FF2B5EF4-FFF2-40B4-BE49-F238E27FC236}">
                <a16:creationId xmlns:a16="http://schemas.microsoft.com/office/drawing/2014/main" id="{575E356E-80AF-23CC-B1CB-EE8C843F2495}"/>
              </a:ext>
            </a:extLst>
          </p:cNvPr>
          <p:cNvCxnSpPr/>
          <p:nvPr/>
        </p:nvCxnSpPr>
        <p:spPr>
          <a:xfrm>
            <a:off x="4568693" y="955221"/>
            <a:ext cx="0" cy="4188279"/>
          </a:xfrm>
          <a:prstGeom prst="line">
            <a:avLst/>
          </a:prstGeom>
          <a:ln w="38100" cmpd="sng">
            <a:solidFill>
              <a:srgbClr val="F6DA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组 45">
            <a:extLst>
              <a:ext uri="{FF2B5EF4-FFF2-40B4-BE49-F238E27FC236}">
                <a16:creationId xmlns:a16="http://schemas.microsoft.com/office/drawing/2014/main" id="{281EC91F-788E-02E6-A233-0A561D0CB82F}"/>
              </a:ext>
            </a:extLst>
          </p:cNvPr>
          <p:cNvGrpSpPr/>
          <p:nvPr/>
        </p:nvGrpSpPr>
        <p:grpSpPr>
          <a:xfrm>
            <a:off x="4459399" y="1328196"/>
            <a:ext cx="4409328" cy="461665"/>
            <a:chOff x="5093846" y="2499995"/>
            <a:chExt cx="4409328" cy="461665"/>
          </a:xfrm>
        </p:grpSpPr>
        <p:sp>
          <p:nvSpPr>
            <p:cNvPr id="16" name="椭圆 36">
              <a:extLst>
                <a:ext uri="{FF2B5EF4-FFF2-40B4-BE49-F238E27FC236}">
                  <a16:creationId xmlns:a16="http://schemas.microsoft.com/office/drawing/2014/main" id="{D738DC5E-1744-CEDC-59F8-D3E089E22F75}"/>
                </a:ext>
              </a:extLst>
            </p:cNvPr>
            <p:cNvSpPr/>
            <p:nvPr/>
          </p:nvSpPr>
          <p:spPr>
            <a:xfrm>
              <a:off x="5093846" y="2613633"/>
              <a:ext cx="234389" cy="234389"/>
            </a:xfrm>
            <a:prstGeom prst="ellipse">
              <a:avLst/>
            </a:prstGeom>
            <a:solidFill>
              <a:schemeClr val="bg2"/>
            </a:solidFill>
            <a:ln w="38100" cmpd="sng">
              <a:solidFill>
                <a:srgbClr val="F6DA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rgbClr val="7C9C1E"/>
                </a:solidFill>
              </a:endParaRPr>
            </a:p>
          </p:txBody>
        </p:sp>
        <p:sp>
          <p:nvSpPr>
            <p:cNvPr id="23" name="文本框 44">
              <a:extLst>
                <a:ext uri="{FF2B5EF4-FFF2-40B4-BE49-F238E27FC236}">
                  <a16:creationId xmlns:a16="http://schemas.microsoft.com/office/drawing/2014/main" id="{52C91AEA-16EA-35A1-40E9-AFC96332D961}"/>
                </a:ext>
              </a:extLst>
            </p:cNvPr>
            <p:cNvSpPr txBox="1"/>
            <p:nvPr/>
          </p:nvSpPr>
          <p:spPr>
            <a:xfrm>
              <a:off x="6138366" y="2499995"/>
              <a:ext cx="336480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endParaRPr kumimoji="1" lang="zh-CN" altLang="en-US" sz="2400" b="1" dirty="0">
                <a:solidFill>
                  <a:srgbClr val="F6DA98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sp>
        <p:nvSpPr>
          <p:cNvPr id="24" name="圆角矩形 55">
            <a:extLst>
              <a:ext uri="{FF2B5EF4-FFF2-40B4-BE49-F238E27FC236}">
                <a16:creationId xmlns:a16="http://schemas.microsoft.com/office/drawing/2014/main" id="{86832F40-4DBC-A8DE-9EDC-9CB7E19A4AFF}"/>
              </a:ext>
            </a:extLst>
          </p:cNvPr>
          <p:cNvSpPr/>
          <p:nvPr/>
        </p:nvSpPr>
        <p:spPr>
          <a:xfrm>
            <a:off x="1309409" y="969312"/>
            <a:ext cx="3024896" cy="1179431"/>
          </a:xfrm>
          <a:custGeom>
            <a:avLst/>
            <a:gdLst/>
            <a:ahLst/>
            <a:cxnLst/>
            <a:rect l="l" t="t" r="r" b="b"/>
            <a:pathLst>
              <a:path w="3024896" h="1179431">
                <a:moveTo>
                  <a:pt x="116893" y="0"/>
                </a:moveTo>
                <a:lnTo>
                  <a:pt x="2737159" y="0"/>
                </a:lnTo>
                <a:cubicBezTo>
                  <a:pt x="2801717" y="0"/>
                  <a:pt x="2854052" y="52335"/>
                  <a:pt x="2854052" y="116893"/>
                </a:cubicBezTo>
                <a:lnTo>
                  <a:pt x="2854052" y="478918"/>
                </a:lnTo>
                <a:lnTo>
                  <a:pt x="3024896" y="589716"/>
                </a:lnTo>
                <a:lnTo>
                  <a:pt x="2854052" y="700513"/>
                </a:lnTo>
                <a:lnTo>
                  <a:pt x="2854052" y="1062538"/>
                </a:lnTo>
                <a:cubicBezTo>
                  <a:pt x="2854052" y="1127096"/>
                  <a:pt x="2801717" y="1179431"/>
                  <a:pt x="2737159" y="1179431"/>
                </a:cubicBezTo>
                <a:lnTo>
                  <a:pt x="116893" y="1179431"/>
                </a:lnTo>
                <a:cubicBezTo>
                  <a:pt x="52335" y="1179431"/>
                  <a:pt x="0" y="1127096"/>
                  <a:pt x="0" y="1062538"/>
                </a:cubicBezTo>
                <a:lnTo>
                  <a:pt x="0" y="116893"/>
                </a:lnTo>
                <a:cubicBezTo>
                  <a:pt x="0" y="52335"/>
                  <a:pt x="52335" y="0"/>
                  <a:pt x="116893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54">
            <a:extLst>
              <a:ext uri="{FF2B5EF4-FFF2-40B4-BE49-F238E27FC236}">
                <a16:creationId xmlns:a16="http://schemas.microsoft.com/office/drawing/2014/main" id="{456B0876-2E2C-BF0F-EAF5-23F888A81599}"/>
              </a:ext>
            </a:extLst>
          </p:cNvPr>
          <p:cNvSpPr txBox="1"/>
          <p:nvPr/>
        </p:nvSpPr>
        <p:spPr>
          <a:xfrm flipH="1">
            <a:off x="1356341" y="1034478"/>
            <a:ext cx="2610494" cy="925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kumimoji="1" lang="en-US" altLang="zh-CN" sz="1200" dirty="0">
                <a:solidFill>
                  <a:srgbClr val="FFFFFF"/>
                </a:solidFill>
                <a:ea typeface="微软雅黑"/>
                <a:cs typeface="Segoe UI Light"/>
              </a:rPr>
              <a:t>HTC Backend (core):</a:t>
            </a:r>
          </a:p>
          <a:p>
            <a:pPr>
              <a:lnSpc>
                <a:spcPts val="1300"/>
              </a:lnSpc>
            </a:pPr>
            <a:endParaRPr kumimoji="1" lang="en-US" altLang="zh-CN" sz="8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>
              <a:lnSpc>
                <a:spcPts val="1300"/>
              </a:lnSpc>
            </a:pPr>
            <a:r>
              <a:rPr kumimoji="1" lang="en-US" altLang="zh-CN" sz="1200" dirty="0">
                <a:solidFill>
                  <a:srgbClr val="FFFFFF"/>
                </a:solidFill>
                <a:ea typeface="微软雅黑"/>
                <a:cs typeface="Segoe UI Light"/>
              </a:rPr>
              <a:t>Account</a:t>
            </a:r>
            <a:r>
              <a:rPr kumimoji="1" lang="zh-TW" altLang="en-US" sz="1200" dirty="0">
                <a:solidFill>
                  <a:srgbClr val="FFFFFF"/>
                </a:solidFill>
                <a:ea typeface="微软雅黑"/>
                <a:cs typeface="Segoe UI Light"/>
              </a:rPr>
              <a:t> </a:t>
            </a:r>
            <a:r>
              <a:rPr kumimoji="1" lang="en-US" altLang="zh-TW" sz="1200" dirty="0">
                <a:solidFill>
                  <a:srgbClr val="FFFFFF"/>
                </a:solidFill>
                <a:ea typeface="微软雅黑"/>
                <a:cs typeface="Segoe UI Light"/>
              </a:rPr>
              <a:t>/ Payment / Content management / Community / Avatar / …</a:t>
            </a:r>
            <a:endParaRPr kumimoji="1" lang="en-US" altLang="zh-CN" sz="1200" dirty="0">
              <a:solidFill>
                <a:srgbClr val="FFFFFF"/>
              </a:solidFill>
              <a:ea typeface="微软雅黑"/>
              <a:cs typeface="Segoe UI Light"/>
            </a:endParaRPr>
          </a:p>
        </p:txBody>
      </p:sp>
      <p:grpSp>
        <p:nvGrpSpPr>
          <p:cNvPr id="29" name="组 45">
            <a:extLst>
              <a:ext uri="{FF2B5EF4-FFF2-40B4-BE49-F238E27FC236}">
                <a16:creationId xmlns:a16="http://schemas.microsoft.com/office/drawing/2014/main" id="{0DDDE266-5105-FD15-055C-CF7146B647AA}"/>
              </a:ext>
            </a:extLst>
          </p:cNvPr>
          <p:cNvGrpSpPr/>
          <p:nvPr/>
        </p:nvGrpSpPr>
        <p:grpSpPr>
          <a:xfrm>
            <a:off x="4459399" y="2226025"/>
            <a:ext cx="4409328" cy="461665"/>
            <a:chOff x="5093846" y="2499995"/>
            <a:chExt cx="4409328" cy="461665"/>
          </a:xfrm>
        </p:grpSpPr>
        <p:sp>
          <p:nvSpPr>
            <p:cNvPr id="30" name="椭圆 36">
              <a:extLst>
                <a:ext uri="{FF2B5EF4-FFF2-40B4-BE49-F238E27FC236}">
                  <a16:creationId xmlns:a16="http://schemas.microsoft.com/office/drawing/2014/main" id="{62D259C4-A35A-1A23-17F3-FFC3741E2DA9}"/>
                </a:ext>
              </a:extLst>
            </p:cNvPr>
            <p:cNvSpPr/>
            <p:nvPr/>
          </p:nvSpPr>
          <p:spPr>
            <a:xfrm>
              <a:off x="5093846" y="2613633"/>
              <a:ext cx="234389" cy="234389"/>
            </a:xfrm>
            <a:prstGeom prst="ellipse">
              <a:avLst/>
            </a:prstGeom>
            <a:solidFill>
              <a:schemeClr val="bg2"/>
            </a:solidFill>
            <a:ln w="38100" cmpd="sng">
              <a:solidFill>
                <a:srgbClr val="F6DA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rgbClr val="7C9C1E"/>
                </a:solidFill>
              </a:endParaRPr>
            </a:p>
          </p:txBody>
        </p:sp>
        <p:sp>
          <p:nvSpPr>
            <p:cNvPr id="31" name="文本框 44">
              <a:extLst>
                <a:ext uri="{FF2B5EF4-FFF2-40B4-BE49-F238E27FC236}">
                  <a16:creationId xmlns:a16="http://schemas.microsoft.com/office/drawing/2014/main" id="{D6EBD6A7-391A-7330-99F1-3D6A89814224}"/>
                </a:ext>
              </a:extLst>
            </p:cNvPr>
            <p:cNvSpPr txBox="1"/>
            <p:nvPr/>
          </p:nvSpPr>
          <p:spPr>
            <a:xfrm>
              <a:off x="6138366" y="2499995"/>
              <a:ext cx="336480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endParaRPr kumimoji="1" lang="zh-CN" altLang="en-US" sz="2400" b="1" dirty="0">
                <a:solidFill>
                  <a:srgbClr val="F6DA98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sp>
        <p:nvSpPr>
          <p:cNvPr id="32" name="圆角矩形 55">
            <a:extLst>
              <a:ext uri="{FF2B5EF4-FFF2-40B4-BE49-F238E27FC236}">
                <a16:creationId xmlns:a16="http://schemas.microsoft.com/office/drawing/2014/main" id="{AC415A6A-A4E9-BBB7-2B2C-3C5DDCB88F8F}"/>
              </a:ext>
            </a:extLst>
          </p:cNvPr>
          <p:cNvSpPr/>
          <p:nvPr/>
        </p:nvSpPr>
        <p:spPr>
          <a:xfrm flipH="1">
            <a:off x="4864077" y="1867750"/>
            <a:ext cx="3024896" cy="1179431"/>
          </a:xfrm>
          <a:custGeom>
            <a:avLst/>
            <a:gdLst/>
            <a:ahLst/>
            <a:cxnLst/>
            <a:rect l="l" t="t" r="r" b="b"/>
            <a:pathLst>
              <a:path w="3024896" h="1179431">
                <a:moveTo>
                  <a:pt x="116893" y="0"/>
                </a:moveTo>
                <a:lnTo>
                  <a:pt x="2737159" y="0"/>
                </a:lnTo>
                <a:cubicBezTo>
                  <a:pt x="2801717" y="0"/>
                  <a:pt x="2854052" y="52335"/>
                  <a:pt x="2854052" y="116893"/>
                </a:cubicBezTo>
                <a:lnTo>
                  <a:pt x="2854052" y="478918"/>
                </a:lnTo>
                <a:lnTo>
                  <a:pt x="3024896" y="589716"/>
                </a:lnTo>
                <a:lnTo>
                  <a:pt x="2854052" y="700513"/>
                </a:lnTo>
                <a:lnTo>
                  <a:pt x="2854052" y="1062538"/>
                </a:lnTo>
                <a:cubicBezTo>
                  <a:pt x="2854052" y="1127096"/>
                  <a:pt x="2801717" y="1179431"/>
                  <a:pt x="2737159" y="1179431"/>
                </a:cubicBezTo>
                <a:lnTo>
                  <a:pt x="116893" y="1179431"/>
                </a:lnTo>
                <a:cubicBezTo>
                  <a:pt x="52335" y="1179431"/>
                  <a:pt x="0" y="1127096"/>
                  <a:pt x="0" y="1062538"/>
                </a:cubicBezTo>
                <a:lnTo>
                  <a:pt x="0" y="116893"/>
                </a:lnTo>
                <a:cubicBezTo>
                  <a:pt x="0" y="52335"/>
                  <a:pt x="52335" y="0"/>
                  <a:pt x="116893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54">
            <a:extLst>
              <a:ext uri="{FF2B5EF4-FFF2-40B4-BE49-F238E27FC236}">
                <a16:creationId xmlns:a16="http://schemas.microsoft.com/office/drawing/2014/main" id="{DE86F016-C4E8-3DCC-5C1D-CC680FABD1DD}"/>
              </a:ext>
            </a:extLst>
          </p:cNvPr>
          <p:cNvSpPr txBox="1"/>
          <p:nvPr/>
        </p:nvSpPr>
        <p:spPr>
          <a:xfrm flipH="1">
            <a:off x="5089434" y="1945065"/>
            <a:ext cx="2610494" cy="759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kumimoji="1" lang="en-US" altLang="zh-CN" sz="1200" dirty="0">
                <a:solidFill>
                  <a:srgbClr val="FFFFFF"/>
                </a:solidFill>
                <a:ea typeface="微软雅黑"/>
                <a:cs typeface="Segoe UI Light"/>
              </a:rPr>
              <a:t>HTC Backend (business):</a:t>
            </a:r>
          </a:p>
          <a:p>
            <a:pPr>
              <a:lnSpc>
                <a:spcPts val="1300"/>
              </a:lnSpc>
            </a:pPr>
            <a:endParaRPr kumimoji="1" lang="en-US" altLang="zh-CN" sz="8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>
              <a:lnSpc>
                <a:spcPts val="1300"/>
              </a:lnSpc>
            </a:pPr>
            <a:r>
              <a:rPr kumimoji="1" lang="en-US" altLang="zh-CN" sz="1200" dirty="0">
                <a:solidFill>
                  <a:srgbClr val="FFFFFF"/>
                </a:solidFill>
                <a:ea typeface="微软雅黑"/>
                <a:cs typeface="Segoe UI Light"/>
              </a:rPr>
              <a:t>Enterprise device management / Arcade</a:t>
            </a:r>
          </a:p>
        </p:txBody>
      </p:sp>
      <p:grpSp>
        <p:nvGrpSpPr>
          <p:cNvPr id="35" name="组 45">
            <a:extLst>
              <a:ext uri="{FF2B5EF4-FFF2-40B4-BE49-F238E27FC236}">
                <a16:creationId xmlns:a16="http://schemas.microsoft.com/office/drawing/2014/main" id="{A5B66D1F-8568-219E-9CBD-2C5E4BEA37A7}"/>
              </a:ext>
            </a:extLst>
          </p:cNvPr>
          <p:cNvGrpSpPr/>
          <p:nvPr/>
        </p:nvGrpSpPr>
        <p:grpSpPr>
          <a:xfrm>
            <a:off x="4465182" y="3195933"/>
            <a:ext cx="4409328" cy="461665"/>
            <a:chOff x="5093846" y="2499995"/>
            <a:chExt cx="4409328" cy="461665"/>
          </a:xfrm>
        </p:grpSpPr>
        <p:sp>
          <p:nvSpPr>
            <p:cNvPr id="36" name="椭圆 36">
              <a:extLst>
                <a:ext uri="{FF2B5EF4-FFF2-40B4-BE49-F238E27FC236}">
                  <a16:creationId xmlns:a16="http://schemas.microsoft.com/office/drawing/2014/main" id="{D5441D7B-3180-275F-9545-F1D756B71EFB}"/>
                </a:ext>
              </a:extLst>
            </p:cNvPr>
            <p:cNvSpPr/>
            <p:nvPr/>
          </p:nvSpPr>
          <p:spPr>
            <a:xfrm>
              <a:off x="5093846" y="2613633"/>
              <a:ext cx="234389" cy="234389"/>
            </a:xfrm>
            <a:prstGeom prst="ellipse">
              <a:avLst/>
            </a:prstGeom>
            <a:solidFill>
              <a:schemeClr val="bg2"/>
            </a:solidFill>
            <a:ln w="38100" cmpd="sng">
              <a:solidFill>
                <a:srgbClr val="F6DA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rgbClr val="7C9C1E"/>
                </a:solidFill>
              </a:endParaRPr>
            </a:p>
          </p:txBody>
        </p:sp>
        <p:sp>
          <p:nvSpPr>
            <p:cNvPr id="37" name="文本框 44">
              <a:extLst>
                <a:ext uri="{FF2B5EF4-FFF2-40B4-BE49-F238E27FC236}">
                  <a16:creationId xmlns:a16="http://schemas.microsoft.com/office/drawing/2014/main" id="{FFC8491F-456D-46E2-C3A4-9CCF9270A55B}"/>
                </a:ext>
              </a:extLst>
            </p:cNvPr>
            <p:cNvSpPr txBox="1"/>
            <p:nvPr/>
          </p:nvSpPr>
          <p:spPr>
            <a:xfrm>
              <a:off x="6138366" y="2499995"/>
              <a:ext cx="336480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endParaRPr kumimoji="1" lang="zh-CN" altLang="en-US" sz="2400" b="1" dirty="0">
                <a:solidFill>
                  <a:srgbClr val="F6DA98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sp>
        <p:nvSpPr>
          <p:cNvPr id="38" name="圆角矩形 55">
            <a:extLst>
              <a:ext uri="{FF2B5EF4-FFF2-40B4-BE49-F238E27FC236}">
                <a16:creationId xmlns:a16="http://schemas.microsoft.com/office/drawing/2014/main" id="{B75290E2-1341-4820-CF2C-39057A6303FA}"/>
              </a:ext>
            </a:extLst>
          </p:cNvPr>
          <p:cNvSpPr/>
          <p:nvPr/>
        </p:nvSpPr>
        <p:spPr>
          <a:xfrm>
            <a:off x="1330495" y="2837049"/>
            <a:ext cx="3024896" cy="1179431"/>
          </a:xfrm>
          <a:custGeom>
            <a:avLst/>
            <a:gdLst/>
            <a:ahLst/>
            <a:cxnLst/>
            <a:rect l="l" t="t" r="r" b="b"/>
            <a:pathLst>
              <a:path w="3024896" h="1179431">
                <a:moveTo>
                  <a:pt x="116893" y="0"/>
                </a:moveTo>
                <a:lnTo>
                  <a:pt x="2737159" y="0"/>
                </a:lnTo>
                <a:cubicBezTo>
                  <a:pt x="2801717" y="0"/>
                  <a:pt x="2854052" y="52335"/>
                  <a:pt x="2854052" y="116893"/>
                </a:cubicBezTo>
                <a:lnTo>
                  <a:pt x="2854052" y="478918"/>
                </a:lnTo>
                <a:lnTo>
                  <a:pt x="3024896" y="589716"/>
                </a:lnTo>
                <a:lnTo>
                  <a:pt x="2854052" y="700513"/>
                </a:lnTo>
                <a:lnTo>
                  <a:pt x="2854052" y="1062538"/>
                </a:lnTo>
                <a:cubicBezTo>
                  <a:pt x="2854052" y="1127096"/>
                  <a:pt x="2801717" y="1179431"/>
                  <a:pt x="2737159" y="1179431"/>
                </a:cubicBezTo>
                <a:lnTo>
                  <a:pt x="116893" y="1179431"/>
                </a:lnTo>
                <a:cubicBezTo>
                  <a:pt x="52335" y="1179431"/>
                  <a:pt x="0" y="1127096"/>
                  <a:pt x="0" y="1062538"/>
                </a:cubicBezTo>
                <a:lnTo>
                  <a:pt x="0" y="116893"/>
                </a:lnTo>
                <a:cubicBezTo>
                  <a:pt x="0" y="52335"/>
                  <a:pt x="52335" y="0"/>
                  <a:pt x="116893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文本框 54">
            <a:extLst>
              <a:ext uri="{FF2B5EF4-FFF2-40B4-BE49-F238E27FC236}">
                <a16:creationId xmlns:a16="http://schemas.microsoft.com/office/drawing/2014/main" id="{99BB0020-9EBF-72A0-4FE6-A8E780B49136}"/>
              </a:ext>
            </a:extLst>
          </p:cNvPr>
          <p:cNvSpPr txBox="1"/>
          <p:nvPr/>
        </p:nvSpPr>
        <p:spPr>
          <a:xfrm flipH="1">
            <a:off x="1377427" y="2902215"/>
            <a:ext cx="2610494" cy="592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kumimoji="1" lang="en-US" altLang="zh-CN" sz="1200" dirty="0">
                <a:solidFill>
                  <a:srgbClr val="FFFFFF"/>
                </a:solidFill>
                <a:ea typeface="微软雅黑"/>
                <a:cs typeface="Segoe UI Light"/>
              </a:rPr>
              <a:t>HTC Android:</a:t>
            </a:r>
          </a:p>
          <a:p>
            <a:pPr>
              <a:lnSpc>
                <a:spcPts val="1300"/>
              </a:lnSpc>
            </a:pPr>
            <a:endParaRPr kumimoji="1" lang="en-US" altLang="zh-CN" sz="8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>
              <a:lnSpc>
                <a:spcPts val="1300"/>
              </a:lnSpc>
            </a:pPr>
            <a:r>
              <a:rPr kumimoji="1" lang="en-US" altLang="zh-CN" sz="1200" dirty="0">
                <a:solidFill>
                  <a:srgbClr val="FFFFFF"/>
                </a:solidFill>
                <a:ea typeface="微软雅黑"/>
                <a:cs typeface="Segoe UI Light"/>
              </a:rPr>
              <a:t>Sense tv / Lockscreen 2D / Task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0CE239-3680-70CF-EDF0-C159CCAA6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2">
            <a:extLst>
              <a:ext uri="{FF2B5EF4-FFF2-40B4-BE49-F238E27FC236}">
                <a16:creationId xmlns:a16="http://schemas.microsoft.com/office/drawing/2014/main" id="{0A411FAC-C65A-75F5-4E15-04970909D316}"/>
              </a:ext>
            </a:extLst>
          </p:cNvPr>
          <p:cNvGrpSpPr/>
          <p:nvPr/>
        </p:nvGrpSpPr>
        <p:grpSpPr>
          <a:xfrm>
            <a:off x="3451442" y="-1"/>
            <a:ext cx="2241117" cy="1093517"/>
            <a:chOff x="3033164" y="-1"/>
            <a:chExt cx="2241117" cy="1093517"/>
          </a:xfrm>
        </p:grpSpPr>
        <p:sp>
          <p:nvSpPr>
            <p:cNvPr id="5" name="等腰三角形 9">
              <a:extLst>
                <a:ext uri="{FF2B5EF4-FFF2-40B4-BE49-F238E27FC236}">
                  <a16:creationId xmlns:a16="http://schemas.microsoft.com/office/drawing/2014/main" id="{4E7F9665-BBA3-D782-89BE-43AC81048CD8}"/>
                </a:ext>
              </a:extLst>
            </p:cNvPr>
            <p:cNvSpPr/>
            <p:nvPr/>
          </p:nvSpPr>
          <p:spPr>
            <a:xfrm flipV="1">
              <a:off x="3033165" y="-1"/>
              <a:ext cx="2241116" cy="1093517"/>
            </a:xfrm>
            <a:custGeom>
              <a:avLst/>
              <a:gdLst/>
              <a:ahLst/>
              <a:cxnLst/>
              <a:rect l="l" t="t" r="r" b="b"/>
              <a:pathLst>
                <a:path w="2050062" h="989888">
                  <a:moveTo>
                    <a:pt x="0" y="989888"/>
                  </a:moveTo>
                  <a:lnTo>
                    <a:pt x="2050062" y="989888"/>
                  </a:lnTo>
                  <a:lnTo>
                    <a:pt x="2041981" y="799417"/>
                  </a:lnTo>
                  <a:cubicBezTo>
                    <a:pt x="2025751" y="615050"/>
                    <a:pt x="1987405" y="475027"/>
                    <a:pt x="1940306" y="434939"/>
                  </a:cubicBezTo>
                  <a:lnTo>
                    <a:pt x="1918044" y="425604"/>
                  </a:lnTo>
                  <a:lnTo>
                    <a:pt x="1918044" y="423297"/>
                  </a:lnTo>
                  <a:lnTo>
                    <a:pt x="1918044" y="423294"/>
                  </a:lnTo>
                  <a:lnTo>
                    <a:pt x="1918038" y="423294"/>
                  </a:lnTo>
                  <a:lnTo>
                    <a:pt x="1025031" y="0"/>
                  </a:lnTo>
                  <a:lnTo>
                    <a:pt x="132025" y="423294"/>
                  </a:lnTo>
                  <a:lnTo>
                    <a:pt x="132017" y="423294"/>
                  </a:lnTo>
                  <a:lnTo>
                    <a:pt x="132017" y="425605"/>
                  </a:lnTo>
                  <a:lnTo>
                    <a:pt x="109756" y="434939"/>
                  </a:lnTo>
                  <a:cubicBezTo>
                    <a:pt x="62658" y="475027"/>
                    <a:pt x="24311" y="615050"/>
                    <a:pt x="8082" y="799417"/>
                  </a:cubicBezTo>
                  <a:close/>
                </a:path>
              </a:pathLst>
            </a:custGeom>
            <a:solidFill>
              <a:srgbClr val="4FB8AB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cs typeface="+mn-cs"/>
              </a:endParaRPr>
            </a:p>
          </p:txBody>
        </p:sp>
        <p:sp>
          <p:nvSpPr>
            <p:cNvPr id="6" name="文本框 4">
              <a:extLst>
                <a:ext uri="{FF2B5EF4-FFF2-40B4-BE49-F238E27FC236}">
                  <a16:creationId xmlns:a16="http://schemas.microsoft.com/office/drawing/2014/main" id="{0DF1C221-ECD9-E689-670D-EC5C10D91654}"/>
                </a:ext>
              </a:extLst>
            </p:cNvPr>
            <p:cNvSpPr txBox="1"/>
            <p:nvPr/>
          </p:nvSpPr>
          <p:spPr>
            <a:xfrm>
              <a:off x="3033164" y="53864"/>
              <a:ext cx="2233632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4C4B4B"/>
                  </a:solidFill>
                  <a:effectLst>
                    <a:innerShdw blurRad="63500" dist="50800" dir="16200000">
                      <a:prstClr val="black">
                        <a:alpha val="50000"/>
                      </a:prstClr>
                    </a:innerShdw>
                  </a:effectLst>
                  <a:uLnTx/>
                  <a:uFillTx/>
                  <a:latin typeface="Century Gothic" panose="020B0502020202020204"/>
                  <a:cs typeface="+mn-cs"/>
                </a:rPr>
                <a:t>EXPERIENCE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C4B4B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Century Gothic" panose="020B0502020202020204"/>
                <a:cs typeface="+mn-cs"/>
              </a:endParaRPr>
            </a:p>
          </p:txBody>
        </p:sp>
      </p:grpSp>
      <p:cxnSp>
        <p:nvCxnSpPr>
          <p:cNvPr id="7" name="直线连接符 9">
            <a:extLst>
              <a:ext uri="{FF2B5EF4-FFF2-40B4-BE49-F238E27FC236}">
                <a16:creationId xmlns:a16="http://schemas.microsoft.com/office/drawing/2014/main" id="{F317B5DC-A268-B930-C2B4-238543DCDB6A}"/>
              </a:ext>
            </a:extLst>
          </p:cNvPr>
          <p:cNvCxnSpPr/>
          <p:nvPr/>
        </p:nvCxnSpPr>
        <p:spPr>
          <a:xfrm>
            <a:off x="4568693" y="955221"/>
            <a:ext cx="0" cy="4188279"/>
          </a:xfrm>
          <a:prstGeom prst="line">
            <a:avLst/>
          </a:prstGeom>
          <a:ln w="38100" cmpd="sng">
            <a:solidFill>
              <a:srgbClr val="F6DA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组 45">
            <a:extLst>
              <a:ext uri="{FF2B5EF4-FFF2-40B4-BE49-F238E27FC236}">
                <a16:creationId xmlns:a16="http://schemas.microsoft.com/office/drawing/2014/main" id="{ABEBD0ED-FB13-2495-DC5C-AC91F620F1BC}"/>
              </a:ext>
            </a:extLst>
          </p:cNvPr>
          <p:cNvGrpSpPr/>
          <p:nvPr/>
        </p:nvGrpSpPr>
        <p:grpSpPr>
          <a:xfrm>
            <a:off x="4459399" y="1328196"/>
            <a:ext cx="4409328" cy="461665"/>
            <a:chOff x="5093846" y="2499995"/>
            <a:chExt cx="4409328" cy="461665"/>
          </a:xfrm>
        </p:grpSpPr>
        <p:sp>
          <p:nvSpPr>
            <p:cNvPr id="16" name="椭圆 36">
              <a:extLst>
                <a:ext uri="{FF2B5EF4-FFF2-40B4-BE49-F238E27FC236}">
                  <a16:creationId xmlns:a16="http://schemas.microsoft.com/office/drawing/2014/main" id="{1C073596-180F-6F42-E63F-07F10F3DF6FC}"/>
                </a:ext>
              </a:extLst>
            </p:cNvPr>
            <p:cNvSpPr/>
            <p:nvPr/>
          </p:nvSpPr>
          <p:spPr>
            <a:xfrm>
              <a:off x="5093846" y="2613633"/>
              <a:ext cx="234389" cy="234389"/>
            </a:xfrm>
            <a:prstGeom prst="ellipse">
              <a:avLst/>
            </a:prstGeom>
            <a:solidFill>
              <a:schemeClr val="bg2"/>
            </a:solidFill>
            <a:ln w="38100" cmpd="sng">
              <a:solidFill>
                <a:srgbClr val="F6DA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C9C1E"/>
                </a:solidFill>
                <a:effectLst/>
                <a:uLnTx/>
                <a:uFillTx/>
                <a:latin typeface="Century Gothic" panose="020B0502020202020204"/>
                <a:cs typeface="+mn-cs"/>
              </a:endParaRPr>
            </a:p>
          </p:txBody>
        </p:sp>
        <p:sp>
          <p:nvSpPr>
            <p:cNvPr id="23" name="文本框 44">
              <a:extLst>
                <a:ext uri="{FF2B5EF4-FFF2-40B4-BE49-F238E27FC236}">
                  <a16:creationId xmlns:a16="http://schemas.microsoft.com/office/drawing/2014/main" id="{3C059B6A-61C8-2F66-89C4-0F46085A9858}"/>
                </a:ext>
              </a:extLst>
            </p:cNvPr>
            <p:cNvSpPr txBox="1"/>
            <p:nvPr/>
          </p:nvSpPr>
          <p:spPr>
            <a:xfrm>
              <a:off x="6138366" y="2499995"/>
              <a:ext cx="336480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6DA98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cs typeface="+mn-cs"/>
              </a:endParaRPr>
            </a:p>
          </p:txBody>
        </p:sp>
      </p:grpSp>
      <p:sp>
        <p:nvSpPr>
          <p:cNvPr id="24" name="圆角矩形 55">
            <a:extLst>
              <a:ext uri="{FF2B5EF4-FFF2-40B4-BE49-F238E27FC236}">
                <a16:creationId xmlns:a16="http://schemas.microsoft.com/office/drawing/2014/main" id="{497C2631-56F7-9063-4BF4-A6FE9C43B6CC}"/>
              </a:ext>
            </a:extLst>
          </p:cNvPr>
          <p:cNvSpPr/>
          <p:nvPr/>
        </p:nvSpPr>
        <p:spPr>
          <a:xfrm>
            <a:off x="1309409" y="969312"/>
            <a:ext cx="3024896" cy="1179431"/>
          </a:xfrm>
          <a:custGeom>
            <a:avLst/>
            <a:gdLst/>
            <a:ahLst/>
            <a:cxnLst/>
            <a:rect l="l" t="t" r="r" b="b"/>
            <a:pathLst>
              <a:path w="3024896" h="1179431">
                <a:moveTo>
                  <a:pt x="116893" y="0"/>
                </a:moveTo>
                <a:lnTo>
                  <a:pt x="2737159" y="0"/>
                </a:lnTo>
                <a:cubicBezTo>
                  <a:pt x="2801717" y="0"/>
                  <a:pt x="2854052" y="52335"/>
                  <a:pt x="2854052" y="116893"/>
                </a:cubicBezTo>
                <a:lnTo>
                  <a:pt x="2854052" y="478918"/>
                </a:lnTo>
                <a:lnTo>
                  <a:pt x="3024896" y="589716"/>
                </a:lnTo>
                <a:lnTo>
                  <a:pt x="2854052" y="700513"/>
                </a:lnTo>
                <a:lnTo>
                  <a:pt x="2854052" y="1062538"/>
                </a:lnTo>
                <a:cubicBezTo>
                  <a:pt x="2854052" y="1127096"/>
                  <a:pt x="2801717" y="1179431"/>
                  <a:pt x="2737159" y="1179431"/>
                </a:cubicBezTo>
                <a:lnTo>
                  <a:pt x="116893" y="1179431"/>
                </a:lnTo>
                <a:cubicBezTo>
                  <a:pt x="52335" y="1179431"/>
                  <a:pt x="0" y="1127096"/>
                  <a:pt x="0" y="1062538"/>
                </a:cubicBezTo>
                <a:lnTo>
                  <a:pt x="0" y="116893"/>
                </a:lnTo>
                <a:cubicBezTo>
                  <a:pt x="0" y="52335"/>
                  <a:pt x="52335" y="0"/>
                  <a:pt x="116893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cs typeface="+mn-cs"/>
            </a:endParaRPr>
          </a:p>
        </p:txBody>
      </p:sp>
      <p:sp>
        <p:nvSpPr>
          <p:cNvPr id="25" name="文本框 54">
            <a:extLst>
              <a:ext uri="{FF2B5EF4-FFF2-40B4-BE49-F238E27FC236}">
                <a16:creationId xmlns:a16="http://schemas.microsoft.com/office/drawing/2014/main" id="{CB3FEAE6-B6D2-04B7-9178-9A63C7CB5F86}"/>
              </a:ext>
            </a:extLst>
          </p:cNvPr>
          <p:cNvSpPr txBox="1"/>
          <p:nvPr/>
        </p:nvSpPr>
        <p:spPr>
          <a:xfrm flipH="1">
            <a:off x="1356341" y="1034478"/>
            <a:ext cx="2610494" cy="592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/>
                <a:ea typeface="微软雅黑"/>
                <a:cs typeface="Segoe UI Light"/>
              </a:rPr>
              <a:t>HTC Windows:</a:t>
            </a:r>
          </a:p>
          <a:p>
            <a:pPr marL="0" marR="0" lvl="0" indent="0" algn="l" defTabSz="4572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2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dirty="0">
                <a:solidFill>
                  <a:srgbClr val="FFFFFF"/>
                </a:solidFill>
                <a:ea typeface="微软雅黑"/>
                <a:cs typeface="Segoe UI Light"/>
              </a:rPr>
              <a:t>IME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微软雅黑"/>
              <a:cs typeface="Segoe UI Light"/>
            </a:endParaRPr>
          </a:p>
        </p:txBody>
      </p:sp>
      <p:grpSp>
        <p:nvGrpSpPr>
          <p:cNvPr id="29" name="组 45">
            <a:extLst>
              <a:ext uri="{FF2B5EF4-FFF2-40B4-BE49-F238E27FC236}">
                <a16:creationId xmlns:a16="http://schemas.microsoft.com/office/drawing/2014/main" id="{590A14DF-3BA8-C69E-4630-C69B2528B0A8}"/>
              </a:ext>
            </a:extLst>
          </p:cNvPr>
          <p:cNvGrpSpPr/>
          <p:nvPr/>
        </p:nvGrpSpPr>
        <p:grpSpPr>
          <a:xfrm>
            <a:off x="4459399" y="2226025"/>
            <a:ext cx="4409328" cy="461665"/>
            <a:chOff x="5093846" y="2499995"/>
            <a:chExt cx="4409328" cy="461665"/>
          </a:xfrm>
        </p:grpSpPr>
        <p:sp>
          <p:nvSpPr>
            <p:cNvPr id="30" name="椭圆 36">
              <a:extLst>
                <a:ext uri="{FF2B5EF4-FFF2-40B4-BE49-F238E27FC236}">
                  <a16:creationId xmlns:a16="http://schemas.microsoft.com/office/drawing/2014/main" id="{3C6C3162-53C8-06F3-7AF7-1755F9DDAB5B}"/>
                </a:ext>
              </a:extLst>
            </p:cNvPr>
            <p:cNvSpPr/>
            <p:nvPr/>
          </p:nvSpPr>
          <p:spPr>
            <a:xfrm>
              <a:off x="5093846" y="2613633"/>
              <a:ext cx="234389" cy="234389"/>
            </a:xfrm>
            <a:prstGeom prst="ellipse">
              <a:avLst/>
            </a:prstGeom>
            <a:solidFill>
              <a:schemeClr val="bg2"/>
            </a:solidFill>
            <a:ln w="38100" cmpd="sng">
              <a:solidFill>
                <a:srgbClr val="F6DA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C9C1E"/>
                </a:solidFill>
                <a:effectLst/>
                <a:uLnTx/>
                <a:uFillTx/>
                <a:latin typeface="Century Gothic" panose="020B0502020202020204"/>
                <a:cs typeface="+mn-cs"/>
              </a:endParaRPr>
            </a:p>
          </p:txBody>
        </p:sp>
        <p:sp>
          <p:nvSpPr>
            <p:cNvPr id="31" name="文本框 44">
              <a:extLst>
                <a:ext uri="{FF2B5EF4-FFF2-40B4-BE49-F238E27FC236}">
                  <a16:creationId xmlns:a16="http://schemas.microsoft.com/office/drawing/2014/main" id="{3FD646A5-F754-69C1-3B5B-E7D3892E144B}"/>
                </a:ext>
              </a:extLst>
            </p:cNvPr>
            <p:cNvSpPr txBox="1"/>
            <p:nvPr/>
          </p:nvSpPr>
          <p:spPr>
            <a:xfrm>
              <a:off x="6138366" y="2499995"/>
              <a:ext cx="336480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6DA98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cs typeface="+mn-cs"/>
              </a:endParaRPr>
            </a:p>
          </p:txBody>
        </p:sp>
      </p:grpSp>
      <p:sp>
        <p:nvSpPr>
          <p:cNvPr id="32" name="圆角矩形 55">
            <a:extLst>
              <a:ext uri="{FF2B5EF4-FFF2-40B4-BE49-F238E27FC236}">
                <a16:creationId xmlns:a16="http://schemas.microsoft.com/office/drawing/2014/main" id="{578F728E-6D91-8ED3-F4D7-5B4D06AF76F4}"/>
              </a:ext>
            </a:extLst>
          </p:cNvPr>
          <p:cNvSpPr/>
          <p:nvPr/>
        </p:nvSpPr>
        <p:spPr>
          <a:xfrm flipH="1">
            <a:off x="4864077" y="1867750"/>
            <a:ext cx="3024896" cy="1179431"/>
          </a:xfrm>
          <a:custGeom>
            <a:avLst/>
            <a:gdLst/>
            <a:ahLst/>
            <a:cxnLst/>
            <a:rect l="l" t="t" r="r" b="b"/>
            <a:pathLst>
              <a:path w="3024896" h="1179431">
                <a:moveTo>
                  <a:pt x="116893" y="0"/>
                </a:moveTo>
                <a:lnTo>
                  <a:pt x="2737159" y="0"/>
                </a:lnTo>
                <a:cubicBezTo>
                  <a:pt x="2801717" y="0"/>
                  <a:pt x="2854052" y="52335"/>
                  <a:pt x="2854052" y="116893"/>
                </a:cubicBezTo>
                <a:lnTo>
                  <a:pt x="2854052" y="478918"/>
                </a:lnTo>
                <a:lnTo>
                  <a:pt x="3024896" y="589716"/>
                </a:lnTo>
                <a:lnTo>
                  <a:pt x="2854052" y="700513"/>
                </a:lnTo>
                <a:lnTo>
                  <a:pt x="2854052" y="1062538"/>
                </a:lnTo>
                <a:cubicBezTo>
                  <a:pt x="2854052" y="1127096"/>
                  <a:pt x="2801717" y="1179431"/>
                  <a:pt x="2737159" y="1179431"/>
                </a:cubicBezTo>
                <a:lnTo>
                  <a:pt x="116893" y="1179431"/>
                </a:lnTo>
                <a:cubicBezTo>
                  <a:pt x="52335" y="1179431"/>
                  <a:pt x="0" y="1127096"/>
                  <a:pt x="0" y="1062538"/>
                </a:cubicBezTo>
                <a:lnTo>
                  <a:pt x="0" y="116893"/>
                </a:lnTo>
                <a:cubicBezTo>
                  <a:pt x="0" y="52335"/>
                  <a:pt x="52335" y="0"/>
                  <a:pt x="116893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cs typeface="+mn-cs"/>
            </a:endParaRPr>
          </a:p>
        </p:txBody>
      </p:sp>
      <p:sp>
        <p:nvSpPr>
          <p:cNvPr id="34" name="文本框 54">
            <a:extLst>
              <a:ext uri="{FF2B5EF4-FFF2-40B4-BE49-F238E27FC236}">
                <a16:creationId xmlns:a16="http://schemas.microsoft.com/office/drawing/2014/main" id="{62469183-F9D8-55F3-EB5C-FDED46875772}"/>
              </a:ext>
            </a:extLst>
          </p:cNvPr>
          <p:cNvSpPr txBox="1"/>
          <p:nvPr/>
        </p:nvSpPr>
        <p:spPr>
          <a:xfrm flipH="1">
            <a:off x="5089434" y="1945065"/>
            <a:ext cx="2610494" cy="759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/>
                <a:ea typeface="微软雅黑"/>
                <a:cs typeface="Segoe UI Light"/>
              </a:rPr>
              <a:t>Ulead</a:t>
            </a:r>
            <a:r>
              <a:rPr kumimoji="1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/>
                <a:ea typeface="微软雅黑"/>
                <a:cs typeface="Segoe UI Light"/>
              </a:rPr>
              <a:t> embedded:</a:t>
            </a:r>
          </a:p>
          <a:p>
            <a:pPr lvl="0">
              <a:lnSpc>
                <a:spcPts val="1300"/>
              </a:lnSpc>
            </a:pPr>
            <a:endParaRPr kumimoji="1" lang="en-US" altLang="zh-CN" sz="1200" dirty="0">
              <a:solidFill>
                <a:srgbClr val="FFFFFF"/>
              </a:solidFill>
              <a:ea typeface="微软雅黑"/>
              <a:cs typeface="Segoe UI Light"/>
            </a:endParaRPr>
          </a:p>
          <a:p>
            <a:pPr lvl="0">
              <a:lnSpc>
                <a:spcPts val="1300"/>
              </a:lnSpc>
            </a:pPr>
            <a:r>
              <a:rPr kumimoji="1" lang="en-US" altLang="zh-CN" sz="1200" dirty="0">
                <a:solidFill>
                  <a:srgbClr val="FFFFFF"/>
                </a:solidFill>
                <a:ea typeface="微软雅黑"/>
                <a:cs typeface="Segoe UI Light"/>
              </a:rPr>
              <a:t>Renesas 1Seg DTV EPG</a:t>
            </a:r>
          </a:p>
          <a:p>
            <a:pPr lvl="0">
              <a:lnSpc>
                <a:spcPts val="1300"/>
              </a:lnSpc>
            </a:pPr>
            <a:r>
              <a:rPr kumimoji="1" lang="en-US" altLang="zh-CN" sz="1200" dirty="0">
                <a:solidFill>
                  <a:srgbClr val="FFFFFF"/>
                </a:solidFill>
                <a:ea typeface="微软雅黑"/>
                <a:cs typeface="Segoe UI Light"/>
              </a:rPr>
              <a:t>DM320 1Seg DTV EPG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微软雅黑"/>
              <a:cs typeface="Segoe UI Light"/>
            </a:endParaRPr>
          </a:p>
        </p:txBody>
      </p:sp>
      <p:grpSp>
        <p:nvGrpSpPr>
          <p:cNvPr id="35" name="组 45">
            <a:extLst>
              <a:ext uri="{FF2B5EF4-FFF2-40B4-BE49-F238E27FC236}">
                <a16:creationId xmlns:a16="http://schemas.microsoft.com/office/drawing/2014/main" id="{03B14260-6F85-AC2A-73B2-3CA84665B2A4}"/>
              </a:ext>
            </a:extLst>
          </p:cNvPr>
          <p:cNvGrpSpPr/>
          <p:nvPr/>
        </p:nvGrpSpPr>
        <p:grpSpPr>
          <a:xfrm>
            <a:off x="4465182" y="3195933"/>
            <a:ext cx="4409328" cy="461665"/>
            <a:chOff x="5093846" y="2499995"/>
            <a:chExt cx="4409328" cy="461665"/>
          </a:xfrm>
        </p:grpSpPr>
        <p:sp>
          <p:nvSpPr>
            <p:cNvPr id="36" name="椭圆 36">
              <a:extLst>
                <a:ext uri="{FF2B5EF4-FFF2-40B4-BE49-F238E27FC236}">
                  <a16:creationId xmlns:a16="http://schemas.microsoft.com/office/drawing/2014/main" id="{BAD9DC0A-4226-0D6B-7F17-615737A3D970}"/>
                </a:ext>
              </a:extLst>
            </p:cNvPr>
            <p:cNvSpPr/>
            <p:nvPr/>
          </p:nvSpPr>
          <p:spPr>
            <a:xfrm>
              <a:off x="5093846" y="2613633"/>
              <a:ext cx="234389" cy="234389"/>
            </a:xfrm>
            <a:prstGeom prst="ellipse">
              <a:avLst/>
            </a:prstGeom>
            <a:solidFill>
              <a:schemeClr val="bg2"/>
            </a:solidFill>
            <a:ln w="38100" cmpd="sng">
              <a:solidFill>
                <a:srgbClr val="F6DA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C9C1E"/>
                </a:solidFill>
                <a:effectLst/>
                <a:uLnTx/>
                <a:uFillTx/>
                <a:latin typeface="Century Gothic" panose="020B0502020202020204"/>
                <a:cs typeface="+mn-cs"/>
              </a:endParaRPr>
            </a:p>
          </p:txBody>
        </p:sp>
        <p:sp>
          <p:nvSpPr>
            <p:cNvPr id="37" name="文本框 44">
              <a:extLst>
                <a:ext uri="{FF2B5EF4-FFF2-40B4-BE49-F238E27FC236}">
                  <a16:creationId xmlns:a16="http://schemas.microsoft.com/office/drawing/2014/main" id="{9CEA9C33-826C-BB7E-45E2-1B8CCFD84EF2}"/>
                </a:ext>
              </a:extLst>
            </p:cNvPr>
            <p:cNvSpPr txBox="1"/>
            <p:nvPr/>
          </p:nvSpPr>
          <p:spPr>
            <a:xfrm>
              <a:off x="6138366" y="2499995"/>
              <a:ext cx="336480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6DA98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cs typeface="+mn-cs"/>
              </a:endParaRPr>
            </a:p>
          </p:txBody>
        </p:sp>
      </p:grpSp>
      <p:sp>
        <p:nvSpPr>
          <p:cNvPr id="38" name="圆角矩形 55">
            <a:extLst>
              <a:ext uri="{FF2B5EF4-FFF2-40B4-BE49-F238E27FC236}">
                <a16:creationId xmlns:a16="http://schemas.microsoft.com/office/drawing/2014/main" id="{072D350F-3DD0-621A-A032-B791F6F50F19}"/>
              </a:ext>
            </a:extLst>
          </p:cNvPr>
          <p:cNvSpPr/>
          <p:nvPr/>
        </p:nvSpPr>
        <p:spPr>
          <a:xfrm>
            <a:off x="1330495" y="2837049"/>
            <a:ext cx="3024896" cy="1179431"/>
          </a:xfrm>
          <a:custGeom>
            <a:avLst/>
            <a:gdLst/>
            <a:ahLst/>
            <a:cxnLst/>
            <a:rect l="l" t="t" r="r" b="b"/>
            <a:pathLst>
              <a:path w="3024896" h="1179431">
                <a:moveTo>
                  <a:pt x="116893" y="0"/>
                </a:moveTo>
                <a:lnTo>
                  <a:pt x="2737159" y="0"/>
                </a:lnTo>
                <a:cubicBezTo>
                  <a:pt x="2801717" y="0"/>
                  <a:pt x="2854052" y="52335"/>
                  <a:pt x="2854052" y="116893"/>
                </a:cubicBezTo>
                <a:lnTo>
                  <a:pt x="2854052" y="478918"/>
                </a:lnTo>
                <a:lnTo>
                  <a:pt x="3024896" y="589716"/>
                </a:lnTo>
                <a:lnTo>
                  <a:pt x="2854052" y="700513"/>
                </a:lnTo>
                <a:lnTo>
                  <a:pt x="2854052" y="1062538"/>
                </a:lnTo>
                <a:cubicBezTo>
                  <a:pt x="2854052" y="1127096"/>
                  <a:pt x="2801717" y="1179431"/>
                  <a:pt x="2737159" y="1179431"/>
                </a:cubicBezTo>
                <a:lnTo>
                  <a:pt x="116893" y="1179431"/>
                </a:lnTo>
                <a:cubicBezTo>
                  <a:pt x="52335" y="1179431"/>
                  <a:pt x="0" y="1127096"/>
                  <a:pt x="0" y="1062538"/>
                </a:cubicBezTo>
                <a:lnTo>
                  <a:pt x="0" y="116893"/>
                </a:lnTo>
                <a:cubicBezTo>
                  <a:pt x="0" y="52335"/>
                  <a:pt x="52335" y="0"/>
                  <a:pt x="116893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cs typeface="+mn-cs"/>
            </a:endParaRPr>
          </a:p>
        </p:txBody>
      </p:sp>
      <p:sp>
        <p:nvSpPr>
          <p:cNvPr id="39" name="文本框 54">
            <a:extLst>
              <a:ext uri="{FF2B5EF4-FFF2-40B4-BE49-F238E27FC236}">
                <a16:creationId xmlns:a16="http://schemas.microsoft.com/office/drawing/2014/main" id="{ACC770B1-ABD0-8665-97C1-6E016EAB230E}"/>
              </a:ext>
            </a:extLst>
          </p:cNvPr>
          <p:cNvSpPr txBox="1"/>
          <p:nvPr/>
        </p:nvSpPr>
        <p:spPr>
          <a:xfrm flipH="1">
            <a:off x="1377427" y="2902215"/>
            <a:ext cx="2610494" cy="592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300"/>
              </a:lnSpc>
            </a:pPr>
            <a:r>
              <a:rPr kumimoji="1" lang="en-US" altLang="zh-CN" sz="1200" dirty="0">
                <a:solidFill>
                  <a:srgbClr val="FFFFFF"/>
                </a:solidFill>
                <a:ea typeface="微软雅黑"/>
                <a:cs typeface="Segoe UI Light"/>
              </a:rPr>
              <a:t>III embedded:</a:t>
            </a:r>
            <a:endParaRPr kumimoji="1" lang="en-US" altLang="zh-CN" sz="12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微软雅黑"/>
              <a:cs typeface="Segoe UI Light"/>
            </a:endParaRPr>
          </a:p>
          <a:p>
            <a:pPr lvl="0">
              <a:lnSpc>
                <a:spcPts val="1300"/>
              </a:lnSpc>
            </a:pPr>
            <a:endParaRPr kumimoji="1" lang="en-US" altLang="zh-CN" sz="1200" dirty="0">
              <a:solidFill>
                <a:srgbClr val="FFFFFF"/>
              </a:solidFill>
              <a:ea typeface="微软雅黑"/>
              <a:cs typeface="Segoe UI Light"/>
            </a:endParaRPr>
          </a:p>
          <a:p>
            <a:pPr lvl="0">
              <a:lnSpc>
                <a:spcPts val="1300"/>
              </a:lnSpc>
            </a:pPr>
            <a:r>
              <a:rPr kumimoji="1" lang="en-US" altLang="zh-CN" sz="1200" dirty="0" err="1">
                <a:solidFill>
                  <a:srgbClr val="FFFFFF"/>
                </a:solidFill>
                <a:ea typeface="微软雅黑"/>
                <a:cs typeface="Segoe UI Light"/>
              </a:rPr>
              <a:t>wtls</a:t>
            </a:r>
            <a:r>
              <a:rPr kumimoji="1" lang="en-US" altLang="zh-CN" sz="1200" dirty="0">
                <a:solidFill>
                  <a:srgbClr val="FFFFFF"/>
                </a:solidFill>
                <a:ea typeface="微软雅黑"/>
                <a:cs typeface="Segoe UI Light"/>
              </a:rPr>
              <a:t> protocol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微软雅黑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2333676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13159" y="1551383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/>
            </a:pPr>
            <a:r>
              <a:rPr lang="zh-TW" altLang="en-US" sz="2000" dirty="0"/>
              <a:t>觀看運動賽事</a:t>
            </a:r>
            <a:endParaRPr lang="en-US" altLang="zh-TW" sz="2000" dirty="0"/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/>
            </a:pPr>
            <a:r>
              <a:rPr lang="zh-TW" altLang="en-US" sz="2000" dirty="0"/>
              <a:t>養狗 </a:t>
            </a:r>
            <a:r>
              <a:rPr lang="en-US" altLang="zh-TW" sz="2000" dirty="0"/>
              <a:t>/ </a:t>
            </a:r>
            <a:r>
              <a:rPr lang="zh-TW" altLang="en-US" sz="2000" dirty="0"/>
              <a:t>養鳥 </a:t>
            </a:r>
            <a:r>
              <a:rPr lang="en-US" altLang="zh-TW" sz="2000" dirty="0"/>
              <a:t>/ </a:t>
            </a:r>
            <a:r>
              <a:rPr lang="zh-TW" altLang="en-US" sz="2000" dirty="0"/>
              <a:t>養魚 </a:t>
            </a:r>
            <a:r>
              <a:rPr lang="en-US" altLang="zh-TW" sz="2000" dirty="0"/>
              <a:t>/ </a:t>
            </a:r>
            <a:r>
              <a:rPr lang="zh-TW" altLang="en-US" sz="2000" dirty="0"/>
              <a:t>種花</a:t>
            </a:r>
            <a:endParaRPr lang="en-US" altLang="zh-TW" sz="2000" dirty="0"/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/>
            </a:pPr>
            <a:r>
              <a:rPr lang="zh-TW" altLang="en-US" sz="2000" dirty="0"/>
              <a:t>下棋</a:t>
            </a:r>
            <a:endParaRPr lang="en-US" sz="2000" dirty="0"/>
          </a:p>
        </p:txBody>
      </p:sp>
      <p:grpSp>
        <p:nvGrpSpPr>
          <p:cNvPr id="4" name="组 2">
            <a:extLst>
              <a:ext uri="{FF2B5EF4-FFF2-40B4-BE49-F238E27FC236}">
                <a16:creationId xmlns:a16="http://schemas.microsoft.com/office/drawing/2014/main" id="{CD11DD55-A28F-D632-7B3E-BD1BA3FDBB45}"/>
              </a:ext>
            </a:extLst>
          </p:cNvPr>
          <p:cNvGrpSpPr/>
          <p:nvPr/>
        </p:nvGrpSpPr>
        <p:grpSpPr>
          <a:xfrm>
            <a:off x="3451442" y="-1"/>
            <a:ext cx="2241117" cy="1093517"/>
            <a:chOff x="3033164" y="-1"/>
            <a:chExt cx="2241117" cy="1093517"/>
          </a:xfrm>
        </p:grpSpPr>
        <p:sp>
          <p:nvSpPr>
            <p:cNvPr id="5" name="等腰三角形 9">
              <a:extLst>
                <a:ext uri="{FF2B5EF4-FFF2-40B4-BE49-F238E27FC236}">
                  <a16:creationId xmlns:a16="http://schemas.microsoft.com/office/drawing/2014/main" id="{F773821C-E992-8294-59CC-ECF19BE7279E}"/>
                </a:ext>
              </a:extLst>
            </p:cNvPr>
            <p:cNvSpPr/>
            <p:nvPr/>
          </p:nvSpPr>
          <p:spPr>
            <a:xfrm flipV="1">
              <a:off x="3033165" y="-1"/>
              <a:ext cx="2241116" cy="1093517"/>
            </a:xfrm>
            <a:custGeom>
              <a:avLst/>
              <a:gdLst/>
              <a:ahLst/>
              <a:cxnLst/>
              <a:rect l="l" t="t" r="r" b="b"/>
              <a:pathLst>
                <a:path w="2050062" h="989888">
                  <a:moveTo>
                    <a:pt x="0" y="989888"/>
                  </a:moveTo>
                  <a:lnTo>
                    <a:pt x="2050062" y="989888"/>
                  </a:lnTo>
                  <a:lnTo>
                    <a:pt x="2041981" y="799417"/>
                  </a:lnTo>
                  <a:cubicBezTo>
                    <a:pt x="2025751" y="615050"/>
                    <a:pt x="1987405" y="475027"/>
                    <a:pt x="1940306" y="434939"/>
                  </a:cubicBezTo>
                  <a:lnTo>
                    <a:pt x="1918044" y="425604"/>
                  </a:lnTo>
                  <a:lnTo>
                    <a:pt x="1918044" y="423297"/>
                  </a:lnTo>
                  <a:lnTo>
                    <a:pt x="1918044" y="423294"/>
                  </a:lnTo>
                  <a:lnTo>
                    <a:pt x="1918038" y="423294"/>
                  </a:lnTo>
                  <a:lnTo>
                    <a:pt x="1025031" y="0"/>
                  </a:lnTo>
                  <a:lnTo>
                    <a:pt x="132025" y="423294"/>
                  </a:lnTo>
                  <a:lnTo>
                    <a:pt x="132017" y="423294"/>
                  </a:lnTo>
                  <a:lnTo>
                    <a:pt x="132017" y="425605"/>
                  </a:lnTo>
                  <a:lnTo>
                    <a:pt x="109756" y="434939"/>
                  </a:lnTo>
                  <a:cubicBezTo>
                    <a:pt x="62658" y="475027"/>
                    <a:pt x="24311" y="615050"/>
                    <a:pt x="8082" y="799417"/>
                  </a:cubicBezTo>
                  <a:close/>
                </a:path>
              </a:pathLst>
            </a:custGeom>
            <a:solidFill>
              <a:srgbClr val="4FB8AB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" name="文本框 4">
              <a:extLst>
                <a:ext uri="{FF2B5EF4-FFF2-40B4-BE49-F238E27FC236}">
                  <a16:creationId xmlns:a16="http://schemas.microsoft.com/office/drawing/2014/main" id="{6C35C2A6-22F3-E34A-CCCE-F78F7B722CE6}"/>
                </a:ext>
              </a:extLst>
            </p:cNvPr>
            <p:cNvSpPr txBox="1"/>
            <p:nvPr/>
          </p:nvSpPr>
          <p:spPr>
            <a:xfrm>
              <a:off x="3033164" y="53864"/>
              <a:ext cx="2233632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CN" sz="2400" b="1" dirty="0">
                  <a:solidFill>
                    <a:srgbClr val="4C4B4B"/>
                  </a:solidFill>
                  <a:effectLst>
                    <a:innerShdw blurRad="63500" dist="50800" dir="16200000">
                      <a:prstClr val="black">
                        <a:alpha val="50000"/>
                      </a:prstClr>
                    </a:innerShdw>
                  </a:effectLst>
                </a:rPr>
                <a:t>Hobby</a:t>
              </a:r>
              <a:endParaRPr kumimoji="1" lang="zh-CN" altLang="en-US" sz="2400" b="1" dirty="0">
                <a:solidFill>
                  <a:srgbClr val="4C4B4B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切割線">
  <a:themeElements>
    <a:clrScheme name="切割線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割線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割線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</ds:schemaRefs>
</ds:datastoreItem>
</file>

<file path=customXml/itemProps3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774</TotalTime>
  <Words>75</Words>
  <Application>Microsoft Office PowerPoint</Application>
  <PresentationFormat>如螢幕大小 (16:9)</PresentationFormat>
  <Paragraphs>26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4</vt:i4>
      </vt:variant>
    </vt:vector>
  </HeadingPairs>
  <TitlesOfParts>
    <vt:vector size="13" baseType="lpstr">
      <vt:lpstr>微软雅黑</vt:lpstr>
      <vt:lpstr>Arial</vt:lpstr>
      <vt:lpstr>Calibri</vt:lpstr>
      <vt:lpstr>Calibri Light</vt:lpstr>
      <vt:lpstr>Century Gothic</vt:lpstr>
      <vt:lpstr>Segoe UI Light</vt:lpstr>
      <vt:lpstr>Wingdings 3</vt:lpstr>
      <vt:lpstr>1_Office Theme</vt:lpstr>
      <vt:lpstr>切割線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 PLUS</dc:creator>
  <cp:keywords/>
  <dc:description/>
  <cp:lastModifiedBy>Yj Wen(溫彥儒)</cp:lastModifiedBy>
  <cp:revision>120</cp:revision>
  <dcterms:created xsi:type="dcterms:W3CDTF">2010-04-12T23:12:02Z</dcterms:created>
  <dcterms:modified xsi:type="dcterms:W3CDTF">2025-11-16T13:47:52Z</dcterms:modified>
  <cp:category/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